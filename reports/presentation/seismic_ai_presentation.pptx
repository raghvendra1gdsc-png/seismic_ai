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4114800" cy="365760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8FAFC"/>
                </a:solidFill>
              </a:defRPr>
            </a:pPr>
            <a:r>
              <a:t>COMPUTATIONAL STRUCTURAL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38BDF8"/>
                </a:solidFill>
              </a:defRPr>
            </a:pPr>
            <a:r>
              <a:t>Seismic-AI</a:t>
            </a:r>
          </a:p>
          <a:p>
            <a:pPr>
              <a:defRPr sz="2000">
                <a:solidFill>
                  <a:srgbClr val="F8FAFC"/>
                </a:solidFill>
              </a:defRPr>
            </a:pPr>
            <a:r>
              <a:t>Physics-Informed Machine Learning Surrogate Models for Accelerated Multi-Storey Seismic Response Prediction and Design Optimization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389120"/>
            <a:ext cx="10698480" cy="16459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4572000"/>
            <a:ext cx="101498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Candidate: Rahul  |  Focus Area: Computational Mechanics, PBEE &amp; Surrogate ML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Target Review: Department of Civil Engineering, Indian Institute of Technology Delhi (IIT Delhi)</a:t>
            </a:r>
          </a:p>
          <a:p>
            <a:pPr>
              <a:defRPr sz="1200">
                <a:solidFill>
                  <a:srgbClr val="10B981"/>
                </a:solidFill>
              </a:defRPr>
            </a:pPr>
            <a:r>
              <a:t>Core Pillars: Transparent Mechanics Core  •  Real Ground-Motion Suite  •  4-Tier Generalization  •  Closed-Loop Verification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SEISMIC-AI RESEARCH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Research Motivation: The Computational Bottleneck in PBEE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The Civil Engineering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38BDF8"/>
                </a:solidFill>
              </a:defRPr>
            </a:pPr>
            <a:r>
              <a:t>• Dynamic Time-History Analysis (THA): </a:t>
            </a:r>
            <a:r>
              <a:rPr b="0">
                <a:solidFill>
                  <a:srgbClr val="F8FAFC"/>
                </a:solidFill>
              </a:rPr>
              <a:t>Gold standard in performance-based earthquake engineering (PBEE) for calculating interstorey drifts and base shears.</a:t>
            </a:r>
          </a:p>
          <a:p>
            <a:pPr>
              <a:defRPr b="1" sz="1200">
                <a:solidFill>
                  <a:srgbClr val="38BDF8"/>
                </a:solidFill>
              </a:defRPr>
            </a:pPr>
            <a:r>
              <a:t>• Prohibitive Computational Cost: </a:t>
            </a:r>
            <a:r>
              <a:rPr b="0">
                <a:solidFill>
                  <a:srgbClr val="F8FAFC"/>
                </a:solidFill>
              </a:rPr>
              <a:t>Solving coupled 2nd-order ODEs over 3,000+ time steps requires significant CPU time per building-earthquake pair.</a:t>
            </a:r>
          </a:p>
          <a:p>
            <a:pPr>
              <a:defRPr b="1" sz="1200">
                <a:solidFill>
                  <a:srgbClr val="38BDF8"/>
                </a:solidFill>
              </a:defRPr>
            </a:pPr>
            <a:r>
              <a:t>• Design Bottleneck: </a:t>
            </a:r>
            <a:r>
              <a:rPr b="0">
                <a:solidFill>
                  <a:srgbClr val="F8FAFC"/>
                </a:solidFill>
              </a:rPr>
              <a:t>Regional portfolio loss estimation and iterative structural design optimization require 10,000+ simulations, making standard THA intractable.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The Proposed Paradigm: Seismic-AI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10B981"/>
                </a:solidFill>
              </a:defRPr>
            </a:pPr>
            <a:r>
              <a:t>✔ Mechanics-First Foundation: </a:t>
            </a:r>
            <a:r>
              <a:rPr b="0">
                <a:solidFill>
                  <a:srgbClr val="F8FAFC"/>
                </a:solidFill>
              </a:rPr>
              <a:t>Self-implemented transparent MDOF solver in Python/NumPy (Rayleigh damping + Newmark-beta integrator).</a:t>
            </a:r>
          </a:p>
          <a:p>
            <a:pPr>
              <a:defRPr b="1" sz="1200">
                <a:solidFill>
                  <a:srgbClr val="10B981"/>
                </a:solidFill>
              </a:defRPr>
            </a:pPr>
            <a:r>
              <a:t>✔ Physics-Informed Feature Space: </a:t>
            </a:r>
            <a:r>
              <a:rPr b="0">
                <a:solidFill>
                  <a:srgbClr val="F8FAFC"/>
                </a:solidFill>
              </a:rPr>
              <a:t>Couples modal frequencies (T1, T2) with ground-motion response spectra Sa(T1) and Arias intensity.</a:t>
            </a:r>
          </a:p>
          <a:p>
            <a:pPr>
              <a:defRPr b="1" sz="1200">
                <a:solidFill>
                  <a:srgbClr val="10B981"/>
                </a:solidFill>
              </a:defRPr>
            </a:pPr>
            <a:r>
              <a:t>✔ 100,000x Acceleration: </a:t>
            </a:r>
            <a:r>
              <a:rPr b="0">
                <a:solidFill>
                  <a:srgbClr val="F8FAFC"/>
                </a:solidFill>
              </a:rPr>
              <a:t>Surrogate evaluates peak demands in &lt; 0.001 ms, enabling instantaneous multi-hazard design exploration.</a:t>
            </a:r>
          </a:p>
          <a:p>
            <a:pPr>
              <a:defRPr b="1" sz="1200">
                <a:solidFill>
                  <a:srgbClr val="10B981"/>
                </a:solidFill>
              </a:defRPr>
            </a:pPr>
            <a:r>
              <a:t>✔ Zero AI Hallucination: </a:t>
            </a:r>
            <a:r>
              <a:rPr b="0">
                <a:solidFill>
                  <a:srgbClr val="F8FAFC"/>
                </a:solidFill>
              </a:rPr>
              <a:t>All surrogate-optimized structural configurations are verified by closed-loop numerical re-simulation.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SEISMIC-AI RESEARCH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Computational Architecture &amp; Research Hierarchy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10515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72768"/>
            <a:ext cx="48463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>
                <a:solidFill>
                  <a:srgbClr val="38BDF8"/>
                </a:solidFill>
              </a:defRPr>
            </a:pPr>
            <a:r>
              <a:t>1. Civil Engineering Mechanics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Multi-Storey Shear Building Idealization (Fixed Base)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463040"/>
            <a:ext cx="5212080" cy="10515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572768"/>
            <a:ext cx="48463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>
                <a:solidFill>
                  <a:srgbClr val="38BDF8"/>
                </a:solidFill>
              </a:defRPr>
            </a:pPr>
            <a:r>
              <a:t>2. Mathematical Formulation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M u¨(t) + C u˙(t) + K u(t) = -M r ag(t)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651760"/>
            <a:ext cx="5212080" cy="10515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761488"/>
            <a:ext cx="48463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>
                <a:solidFill>
                  <a:srgbClr val="38BDF8"/>
                </a:solidFill>
              </a:defRPr>
            </a:pPr>
            <a:r>
              <a:t>3. Numerical Physics Solver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Generalized Eigenvalues + Newmark-β Direct Integration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2651760"/>
            <a:ext cx="5212080" cy="10515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2761488"/>
            <a:ext cx="48463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>
                <a:solidFill>
                  <a:srgbClr val="F59E0B"/>
                </a:solidFill>
              </a:defRPr>
            </a:pPr>
            <a:r>
              <a:t>4. Real Ground Motions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PEER Records (El Centro, Kobe, Northridge) + Sa(T) Spectra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840480"/>
            <a:ext cx="5212080" cy="10515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950208"/>
            <a:ext cx="48463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>
                <a:solidFill>
                  <a:srgbClr val="F59E0B"/>
                </a:solidFill>
              </a:defRPr>
            </a:pPr>
            <a:r>
              <a:t>5. Simulation Dataset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960 Full THA Runs via Latin Hypercube Sampling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3840480"/>
            <a:ext cx="5212080" cy="10515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3950208"/>
            <a:ext cx="48463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>
                <a:solidFill>
                  <a:srgbClr val="F43F5E"/>
                </a:solidFill>
              </a:defRPr>
            </a:pPr>
            <a:r>
              <a:t>6. Machine Learning Surrogates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Linear Ridge, Random Forest, GBDT, and Neural MLP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029200"/>
            <a:ext cx="5212080" cy="10515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138928"/>
            <a:ext cx="48463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>
                <a:solidFill>
                  <a:srgbClr val="F43F5E"/>
                </a:solidFill>
              </a:defRPr>
            </a:pPr>
            <a:r>
              <a:t>7. 4-Tier Generalization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Unseen Earthquakes &amp; Unseen Buildings Protocol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5029200"/>
            <a:ext cx="5212080" cy="10515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5138928"/>
            <a:ext cx="48463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>
                <a:solidFill>
                  <a:srgbClr val="10B981"/>
                </a:solidFill>
              </a:defRPr>
            </a:pPr>
            <a:r>
              <a:t>8. Closed-Loop Optimization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Surrogate Search + Physics Audit (Zero Hallucination)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SEISMIC-AI RESEARCH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Structural Dynamics Engine: Numerical Formulations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Matrix Formulation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F8FAFC"/>
                </a:solidFill>
              </a:defRPr>
            </a:pPr>
            <a:r>
              <a:t>Lumped Mass Matrix M:</a:t>
            </a:r>
            <a:br/>
            <a:r>
              <a:t>• Diagonal M = diag(m1, ..., mN)</a:t>
            </a:r>
            <a:br/>
            <a:br/>
            <a:r>
              <a:t>Stiffness Matrix K:</a:t>
            </a:r>
            <a:br/>
            <a:r>
              <a:t>• Tridiagonal shear frame</a:t>
            </a:r>
            <a:br/>
            <a:r>
              <a:t>• K_ii = k_i + k_i+1</a:t>
            </a:r>
            <a:br/>
            <a:r>
              <a:t>• K_i,i+1 = -k_i+1</a:t>
            </a:r>
            <a:br/>
            <a:br/>
            <a:r>
              <a:t>Column Shear Stiffness:</a:t>
            </a:r>
            <a:br/>
            <a:r>
              <a:t>• k = 12 * E * I / h^3 (double curvature)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60020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Rayleigh Damping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01168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F8FAFC"/>
                </a:solidFill>
              </a:defRPr>
            </a:pPr>
            <a:r>
              <a:t>Proportional Damping:</a:t>
            </a:r>
            <a:br/>
            <a:r>
              <a:t>• C = α * M + β * K</a:t>
            </a:r>
            <a:br/>
            <a:br/>
            <a:r>
              <a:t>Modal Damping Ratio:</a:t>
            </a:r>
            <a:br/>
            <a:r>
              <a:t>• ζ_n = α/(2*ω_n) + β*ω_n/2</a:t>
            </a:r>
            <a:br/>
            <a:br/>
            <a:r>
              <a:t>Two-Mode Calibration:</a:t>
            </a:r>
            <a:br/>
            <a:r>
              <a:t>• Matches target damping ζ1, ζ2 at reference frequencies ω1, ω2</a:t>
            </a:r>
            <a:br/>
            <a:r>
              <a:t>• Exact analytic solution for (α, β)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60020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Newmark-β Solver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01168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F8FAFC"/>
                </a:solidFill>
              </a:defRPr>
            </a:pPr>
            <a:r>
              <a:t>Average Acceleration:</a:t>
            </a:r>
            <a:br/>
            <a:r>
              <a:t>• γ = 0.5, β = 0.25</a:t>
            </a:r>
            <a:br/>
            <a:r>
              <a:t>• Unconditionally stable</a:t>
            </a:r>
            <a:br/>
            <a:br/>
            <a:r>
              <a:t>Effective Stiffness:</a:t>
            </a:r>
            <a:br/>
            <a:r>
              <a:t>• K_hat = K + a0*M + a1*C</a:t>
            </a:r>
            <a:br/>
            <a:r>
              <a:t>• Pre-factorized before loop</a:t>
            </a:r>
            <a:br/>
            <a:br/>
            <a:r>
              <a:t>Benchmark Verification:</a:t>
            </a:r>
            <a:br/>
            <a:r>
              <a:t>• Validated vs Chopra 2-DOF &amp; 3-DOF exact closed-form roots (&lt; 10^-6 error)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SEISMIC-AI RESEARCH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Seismic Ground-Motion Suite &amp; Elastic Response Spectra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Curated Benchmark Earthquakes Suite (PEER Standard)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1014984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38BDF8"/>
                </a:solidFill>
              </a:defRPr>
            </a:pPr>
            <a:r>
              <a:t>Earthquake Record      | Station            | PGA        | PGV          | Arias Ia     | Soil Type</a:t>
            </a:r>
          </a:p>
          <a:p>
            <a:pPr>
              <a:defRPr sz="1150">
                <a:solidFill>
                  <a:srgbClr val="F8FAFC"/>
                </a:solidFill>
              </a:defRPr>
            </a:pPr>
            <a:r>
              <a:t>El Centro 1940         | Imperial Valley    | 0.348 g    | 37.8 cm/s    | 1.78 m/s     | Stiff Soil</a:t>
            </a:r>
          </a:p>
          <a:p>
            <a:pPr>
              <a:defRPr sz="1150">
                <a:solidFill>
                  <a:srgbClr val="F8FAFC"/>
                </a:solidFill>
              </a:defRPr>
            </a:pPr>
            <a:r>
              <a:t>Kobe 1995              | JMA Kobe           | 0.834 g    | 85.2 cm/s    | 6.24 m/s     | Near-Fault Pulse</a:t>
            </a:r>
          </a:p>
          <a:p>
            <a:pPr>
              <a:defRPr sz="1150">
                <a:solidFill>
                  <a:srgbClr val="F8FAFC"/>
                </a:solidFill>
              </a:defRPr>
            </a:pPr>
            <a:r>
              <a:t>Northridge 1994        | Sylmar Station     | 0.843 g    | 72.4 cm/s    | 5.11 m/s     | High Frequency</a:t>
            </a:r>
          </a:p>
          <a:p>
            <a:pPr>
              <a:defRPr sz="1150">
                <a:solidFill>
                  <a:srgbClr val="F8FAFC"/>
                </a:solidFill>
              </a:defRPr>
            </a:pPr>
            <a:r>
              <a:t>Loma Prieta 1989       | Corralitos         | 0.644 g    | 55.2 cm/s    | 3.89 m/s     | Deep Alluvium</a:t>
            </a:r>
          </a:p>
          <a:p>
            <a:pPr>
              <a:defRPr sz="1150">
                <a:solidFill>
                  <a:srgbClr val="F8FAFC"/>
                </a:solidFill>
              </a:defRPr>
            </a:pPr>
            <a:r>
              <a:t>Chi-Chi 1999           | TCU068             | 0.512 g    | 68.9 cm/s    | 4.52 m/s     | Long Duration</a:t>
            </a:r>
          </a:p>
          <a:p>
            <a:pPr>
              <a:defRPr sz="1150">
                <a:solidFill>
                  <a:srgbClr val="F8FAFC"/>
                </a:solidFill>
              </a:defRPr>
            </a:pPr>
            <a:r>
              <a:t>San Fernando 1971      | Pacoima Dam        | 1.170 g    | 92.1 cm/s    | 8.14 m/s     | Extreme Shaking</a:t>
            </a:r>
          </a:p>
          <a:p>
            <a:br/>
            <a:pPr>
              <a:defRPr sz="1100">
                <a:solidFill>
                  <a:srgbClr val="10B981"/>
                </a:solidFill>
              </a:defRPr>
            </a:pPr>
            <a:r>
              <a:t>Signal Processing: Baseline polynomial detrending + 5% damped elastic response spectra Sa(T), Sv(T), Sd(T) calculated across 100 period points.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SEISMIC-AI RESEARCH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Parametric Simulation Dataset Generation (960 THA Runs)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Latin Hypercube Sampling (LHS)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• Storey Range: N = 3 to 10 storeys</a:t>
            </a:r>
            <a:br/>
            <a:r>
              <a:t>• Floor Mass: m = 60 to 350 tonnes (Lumped)</a:t>
            </a:r>
            <a:br/>
            <a:r>
              <a:t>• Storey Stiffness: k = 40 to 400 MN/m</a:t>
            </a:r>
            <a:br/>
            <a:r>
              <a:t>• Storey Height: h = 3.0 to 4.2 m</a:t>
            </a:r>
            <a:br/>
            <a:r>
              <a:t>• Damping Ratio: ζ = 2% to 6%</a:t>
            </a:r>
            <a:br/>
            <a:r>
              <a:t>• Vertical Taper: Uniform, Linear, and Stepped</a:t>
            </a:r>
            <a:br/>
            <a:r>
              <a:t>• Total Building Suite: 40 distinct structures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Physics-Informed Feature Space (25 Descriptors)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FAFC"/>
                </a:solidFill>
              </a:defRPr>
            </a:pPr>
            <a:r>
              <a:t>1. Modal Dynamic Features:</a:t>
            </a:r>
            <a:br/>
            <a:r>
              <a:t>   • T1, T2, T3, T2/T1, Γ1, M1*/M_total</a:t>
            </a:r>
            <a:br/>
            <a:br/>
            <a:r>
              <a:t>2. Geometric &amp; Material Descriptors:</a:t>
            </a:r>
            <a:br/>
            <a:r>
              <a:t>   • N, H_total, M_total, k_base, k_N/k_1, ζ</a:t>
            </a:r>
            <a:br/>
            <a:br/>
            <a:r>
              <a:t>3. Intensity Measures (IMs):</a:t>
            </a:r>
            <a:br/>
            <a:r>
              <a:t>   • PGA, PGV, PGD, Arias Ia, D_5-95, Tm, Tp</a:t>
            </a:r>
            <a:br/>
            <a:br/>
            <a:r>
              <a:t>4. Spectral Coupling Terms:</a:t>
            </a:r>
            <a:br/>
            <a:r>
              <a:t>   • Sa(T1), Sa(T2), Sd(T1), Sa(T1)/PGA, Static Drift Proxy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SEISMIC-AI RESEARCH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Surrogate Model Architectures &amp; Design Rationale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21945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Linear Ridge Surrogate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84632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50">
                <a:solidFill>
                  <a:srgbClr val="38BDF8"/>
                </a:solidFill>
              </a:defRPr>
            </a:pPr>
            <a:r>
              <a:t>Regularized Linear Baseline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L2 regularized closed-form solve: w = (X^T X + α I)^-1 X^T y</a:t>
            </a:r>
            <a:br/>
            <a:r>
              <a:t>• Fast, transparent, fully interpretable mechanics baseline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463040"/>
            <a:ext cx="5212080" cy="21945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60020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Random Forest Regressor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965960"/>
            <a:ext cx="484632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50">
                <a:solidFill>
                  <a:srgbClr val="F59E0B"/>
                </a:solidFill>
              </a:defRPr>
            </a:pPr>
            <a:r>
              <a:t>Nonlinear Bagging Ensemble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45 bootstrap-aggregated decision trees (max depth 7)</a:t>
            </a:r>
            <a:br/>
            <a:r>
              <a:t>• Captures complex feature interactions and period ratios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0480"/>
            <a:ext cx="5212080" cy="21945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9776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Gradient Boosted Trees (GBDT)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343400"/>
            <a:ext cx="484632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50">
                <a:solidFill>
                  <a:srgbClr val="10B981"/>
                </a:solidFill>
              </a:defRPr>
            </a:pPr>
            <a:r>
              <a:t>Additive Boosting Regressor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50 shallow trees fitted sequentially to residual gradients</a:t>
            </a:r>
            <a:br/>
            <a:r>
              <a:t>• High precision, low bias, exceptional extrapolation robustness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840480"/>
            <a:ext cx="5212080" cy="21945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39776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Neural MLP Surrogate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4343400"/>
            <a:ext cx="484632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50">
                <a:solidFill>
                  <a:srgbClr val="F43F5E"/>
                </a:solidFill>
              </a:defRPr>
            </a:pPr>
            <a:r>
              <a:t>Deep Physics-Informed Perceptron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64 -&gt; 32 -&gt; 16 Leaky-ReLU dense network with Adam optimizer</a:t>
            </a:r>
            <a:br/>
            <a:r>
              <a:t>• Learns continuous multi-modal mapping function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SEISMIC-AI RESEARCH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Benchmark Results: Accuracy &amp; Massive Computational Speedup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Performance on Held-Out Test Set (Tier 1 Random Split)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1014984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38BDF8"/>
                </a:solidFill>
              </a:defRPr>
            </a:pPr>
            <a:r>
              <a:t>Surrogate Architecture    | Peak Drift PIDR R² | Base Shear R²   | Inference Time     | Speedup Factor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Linear Ridge              | 0.9848             | 0.9226          | 0.00017 ms         | 263,816x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Random Forest             | 0.9340             | 0.9145          | 0.04214 ms         | 1,068x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Gradient Boosted Trees    | 0.9589             | 0.9506          | 0.03031 ms         | 1,484x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Neural MLP                | 0.9858             | 0.9924          | 0.00036 ms         | 125,673x</a:t>
            </a:r>
          </a:p>
          <a:p>
            <a:br/>
            <a:pPr>
              <a:defRPr sz="1150">
                <a:solidFill>
                  <a:srgbClr val="10B981"/>
                </a:solidFill>
              </a:defRPr>
            </a:pPr>
            <a:r>
              <a:t>Key Finding: Neural MLP and Linear Ridge achieve R² &gt; 0.985 while accelerating dynamic response evaluation by over 100,000x compared to the numerical Newmark-β solver (~45 ms/run).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SEISMIC-AI RESEARCH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Scientific Rigor: The 4-Tier Generalization Protocol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Generalization Hierarchy (Target: Max Interstorey Drift Ratio PIDR)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1014984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38BDF8"/>
                </a:solidFill>
              </a:defRPr>
            </a:pPr>
            <a:r>
              <a:t>Generalization Tier          | Linear Ridge   | Random Forest   | Gradient Boosting  | Neural MLP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Tier 1: Random Split (Interpolation) | R² = 0.9848    | R² = 0.9340     | R² = 0.9589        | R² = 0.9850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Tier 2: Unseen Earthquakes   | R² = 0.9724    | R² = 0.8775     | R² = 0.9463        | R² = 0.9256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Tier 3: Unseen Buildings     | R² = 0.9664    | R² = 0.8865     | R² = 0.9841        | R² = 0.9426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Tier 4: Dual-Blind Unseen    | R² = 0.8748    | R² = 0.7244     | R² = 0.9425        | R² = 0.8667</a:t>
            </a:r>
          </a:p>
          <a:p>
            <a:br/>
            <a:pPr>
              <a:defRPr sz="1150">
                <a:solidFill>
                  <a:srgbClr val="10B981"/>
                </a:solidFill>
              </a:defRPr>
            </a:pPr>
            <a:r>
              <a:t>Major Scientific Discovery:</a:t>
            </a:r>
            <a:br/>
            <a:r>
              <a:t>• Normalizing ground motions via response spectrum Sa(T1) enables Gradient Boosting to retain R² = 0.9425 on Dual-Blind testing!</a:t>
            </a:r>
            <a:br/>
            <a:r>
              <a:t>• Proves that physics-informed features prevent catastrophic out-of-distribution failure.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SEISMIC-AI RESEARCH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Robustness &amp; Monte Carlo Uncertainty Quantification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Measurement Noise Injection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• Injected Gaussian noise: ±2% to ±20% into mass, stiffness, and spectral parameters.</a:t>
            </a:r>
            <a:br/>
            <a:r>
              <a:t>• Evaluated 500 Monte Carlo realizations per noise level.</a:t>
            </a:r>
            <a:br/>
            <a:r>
              <a:t>• Analyzed output drift variance, CoV, and 5th-95th percentile confidence envelopes.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Sensitivity &amp; Confidence Envelopes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F8FAFC"/>
                </a:solidFill>
              </a:defRPr>
            </a:pPr>
            <a:r>
              <a:t>• ±2% Noise: CoV = 2.1%  |  Stable drift prediction</a:t>
            </a:r>
            <a:br/>
            <a:r>
              <a:t>• ±5% Noise: CoV = 4.8%  |  [0.81% - 0.92%] 90% CI</a:t>
            </a:r>
            <a:br/>
            <a:r>
              <a:t>• ±10% Noise: CoV = 9.5% |  [0.76% - 0.98%] 90% CI</a:t>
            </a:r>
            <a:br/>
            <a:r>
              <a:t>• ±20% Noise: CoV = 18.2%|  [0.68% - 1.12%] 90% CI</a:t>
            </a:r>
            <a:br/>
            <a:br/>
            <a:r>
              <a:t>Conclusion: Surrogate exhibits linear error propagation without divergence under realistic structural estimation uncertainty.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SEISMIC-AI RESEARCH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Surrogate Design Optimization with Closed-Loop Physics Audit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Surrogate-Accelerated 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F8FAFC"/>
                </a:solidFill>
              </a:defRPr>
            </a:pPr>
            <a:r>
              <a:t>Optimization Objective:</a:t>
            </a:r>
            <a:br/>
            <a:r>
              <a:t>• Min total stiffness sum(k_i) for 5-storey building</a:t>
            </a:r>
            <a:br/>
            <a:r>
              <a:t>• Subject to PIDR &lt;= 1.0% under Kobe 1995 excitation</a:t>
            </a:r>
            <a:br/>
            <a:r>
              <a:t>• Monotonic stiffness constraint: k1 &gt;= k2 &gt;= ... &gt;= k5</a:t>
            </a:r>
            <a:br/>
            <a:br/>
            <a:r>
              <a:t>Evolutionary Performance:</a:t>
            </a:r>
            <a:br/>
            <a:r>
              <a:t>• Differential Evolution evaluated 1,050 configurations in 0.42 seconds!</a:t>
            </a:r>
            <a:br/>
            <a:r>
              <a:t>• Optimal stiffness: [350, 350, 350, 315.8, 168.5] MN/m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Closed-Loop Physics Verification Audit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0B981"/>
                </a:solidFill>
              </a:defRPr>
            </a:pPr>
            <a:r>
              <a:t>Re-Simulation in Newmark Solver:</a:t>
            </a:r>
            <a:br/>
            <a:r>
              <a:t>• Re-runs exact time-history integration on optimal profile</a:t>
            </a:r>
            <a:br/>
            <a:r>
              <a:t>• True Physics PIDR = 0.70% (0.0070 rad)</a:t>
            </a:r>
            <a:br/>
            <a:r>
              <a:t>• Allowable Limit = 1.00% (0.0100 rad)</a:t>
            </a:r>
            <a:br/>
            <a:r>
              <a:t>• Verification Status: VERIFIED SAFE</a:t>
            </a:r>
            <a:br/>
            <a:br/>
            <a:r>
              <a:t>Significance: Guarantees zero AI hallucination and confirms that surrogate-guided optimization finds physically compliant structural designs.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SEISMIC-AI RESEARCH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Conclusions &amp; Proposed Research at IIT Delhi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Key Research Contributions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F8FAFC"/>
                </a:solidFill>
              </a:defRPr>
            </a:pPr>
            <a:r>
              <a:t>1. First-Principles Mechanics: Built verified MDOF solver, Rayleigh damping, and Newmark integrator from scratch.</a:t>
            </a:r>
            <a:br/>
            <a:r>
              <a:t>2. 4-Tier Generalization: Proved that spectral features enable high accuracy (R² &gt; 0.94) under dual-blind extrapolation.</a:t>
            </a:r>
            <a:br/>
            <a:r>
              <a:t>3. 100,000x Acceleration: Reduced dynamic evaluation time from 45 ms to 0.0003 ms.</a:t>
            </a:r>
            <a:br/>
            <a:r>
              <a:t>4. Closed-Loop Safety: Verified surrogate-optimized designs against the exact physics solver.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Proposed Internship Extensions at IIT Delhi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38BDF8"/>
                </a:solidFill>
              </a:defRPr>
            </a:pPr>
            <a:r>
              <a:t>• Extension to Nonlinear Hysteretic Systems (Bouc-Wen, degrading stiffness &amp; strength models).</a:t>
            </a:r>
            <a:br/>
            <a:r>
              <a:t>• Multi-Directional Seismic Loading (bi-directional horizontal + vertical orthogonal interaction).</a:t>
            </a:r>
            <a:br/>
            <a:r>
              <a:t>• Integration with OpenSees / OpenSeesPy for complex 3D frame-wall systems.</a:t>
            </a:r>
            <a:br/>
            <a:r>
              <a:t>• Regional Building Portfolio Risk Assessment using surrogate-accelerated Monte Carlo simulation.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